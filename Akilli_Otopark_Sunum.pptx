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331720"/>
            <a:ext cx="12191695" cy="2286000"/>
          </a:xfrm>
          <a:prstGeom prst="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CB8EE"/>
                </a:solidFill>
                <a:latin typeface="Segoe UI Semibold"/>
              </a:rPr>
              <a:t>NESNELERİN YAPAY ZEKÂSI (AIoT) — DÖNEM PROJESİ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3F5F8"/>
                </a:solidFill>
                <a:latin typeface="Segoe UI Light"/>
              </a:rPr>
              <a:t>Akıllı Otopark Yönlendirme Sistemi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F7CF5E"/>
                </a:solidFill>
                <a:latin typeface="Segoe UI"/>
              </a:rPr>
              <a:t>LLM + IoT · Algoritma Destekli Doğal Dil ile Park Yönlendirme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C9CED8"/>
                </a:solidFill>
                <a:latin typeface="Segoe UI"/>
              </a:rPr>
              <a:t>Sürücü doğal dille konuşur → LLM anlar → algoritma en uygun yeri seçer → web’de canlı gösterilir.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3F5F8"/>
                </a:solidFill>
                <a:latin typeface="Segoe UI"/>
              </a:rPr>
              <a:t>Hazırlayan:  Mehdi Sındağ   ·   [2. öğrenci adı]        </a:t>
            </a:r>
            <a:r>
              <a:rPr sz="1400" b="0">
                <a:solidFill>
                  <a:srgbClr val="C9CED8"/>
                </a:solidFill>
                <a:latin typeface="Segoe UI"/>
              </a:rPr>
              <a:t>Yapay Zeka ve Veri Mühendisliği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PROBLEM &amp; MOTIVASYON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Neden böyle bir sistem?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3429000" cy="18288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82296" cy="1828800"/>
          </a:xfrm>
          <a:prstGeom prst="rect">
            <a:avLst/>
          </a:prstGeom>
          <a:solidFill>
            <a:srgbClr val="E27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84248"/>
            <a:ext cx="2971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🅿️  Park stresi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Büyük AVM/otoparklarda boş 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aramak vakit ve yakıt kaybı,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trafik ve sıkışma yaratır.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783080"/>
            <a:ext cx="3429000" cy="18288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3984" y="1783080"/>
            <a:ext cx="82296" cy="182880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0016" y="1984248"/>
            <a:ext cx="2971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🗣️  Doğal etkileşim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Sürücü teknik form doldurmak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yerine “elektrikli arabam var,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2 saat kalacağım” 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291840" cy="18288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783080"/>
            <a:ext cx="82296" cy="1828800"/>
          </a:xfrm>
          <a:prstGeom prst="rect">
            <a:avLst/>
          </a:prstGeom>
          <a:solidFill>
            <a:srgbClr val="62C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984248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📡  IoT verisi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Sensörler doluluğu canlı bilir;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bu veriyi anlamlı bir karara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dönüştürmek gerekir.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77639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Hedefimiz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500" b="1">
                <a:solidFill>
                  <a:srgbClr val="F3F5F8"/>
                </a:solidFill>
                <a:latin typeface="Segoe UI"/>
              </a:rPr>
              <a:t>Doğal dil ↔ IoT ↔ algoritma</a:t>
            </a:r>
            <a:r>
              <a:rPr sz="1500" b="0">
                <a:solidFill>
                  <a:srgbClr val="C9CED8"/>
                </a:solidFill>
                <a:latin typeface="Segoe UI"/>
              </a:rPr>
              <a:t>  üçlüsünü tek bir çalışan sistemde birleştirmek.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500" b="1">
                <a:solidFill>
                  <a:srgbClr val="F3F5F8"/>
                </a:solidFill>
                <a:latin typeface="Segoe UI"/>
              </a:rPr>
              <a:t>Üç farklı zekâ türünü göstermek: </a:t>
            </a:r>
            <a:r>
              <a:rPr sz="1500" b="0">
                <a:solidFill>
                  <a:srgbClr val="C9CED8"/>
                </a:solidFill>
                <a:latin typeface="Segoe UI"/>
              </a:rPr>
              <a:t>uç (sensör), algoritmik (A*) ve dil (LLM).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500" b="0">
                <a:solidFill>
                  <a:srgbClr val="C9CED8"/>
                </a:solidFill>
                <a:latin typeface="Segoe UI"/>
              </a:rPr>
              <a:t>Tamamen yazılım: gerçek donanım yok, sensörler </a:t>
            </a:r>
            <a:r>
              <a:rPr sz="1500" b="1">
                <a:solidFill>
                  <a:srgbClr val="F3F5F8"/>
                </a:solidFill>
                <a:latin typeface="Segoe UI"/>
              </a:rPr>
              <a:t>simüle</a:t>
            </a:r>
            <a:r>
              <a:rPr sz="1500" b="0">
                <a:solidFill>
                  <a:srgbClr val="C9CED8"/>
                </a:solidFill>
                <a:latin typeface="Segoe UI"/>
              </a:rPr>
              <a:t> edilir; mimari gerçekçidir.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ÇÖZÜM — NE YAPTIK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Konuşan asistanlı akıllı otopark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3736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Uçtan uca akış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0">
                <a:solidFill>
                  <a:srgbClr val="F3F5F8"/>
                </a:solidFill>
                <a:latin typeface="Segoe UI"/>
              </a:rPr>
              <a:t>Sürücü doğal dille yazar/konuşur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0">
                <a:solidFill>
                  <a:srgbClr val="F3F5F8"/>
                </a:solidFill>
                <a:latin typeface="Segoe UI"/>
              </a:rPr>
              <a:t>LLM isteği anlar, </a:t>
            </a:r>
            <a:r>
              <a:rPr sz="1450" b="1">
                <a:solidFill>
                  <a:srgbClr val="F7CF5E"/>
                </a:solidFill>
                <a:latin typeface="Segoe UI"/>
              </a:rPr>
              <a:t>function calling</a:t>
            </a:r>
            <a:r>
              <a:rPr sz="1450" b="0">
                <a:solidFill>
                  <a:srgbClr val="F3F5F8"/>
                </a:solidFill>
                <a:latin typeface="Segoe UI"/>
              </a:rPr>
              <a:t> ile aracı çağırır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0">
                <a:solidFill>
                  <a:srgbClr val="F3F5F8"/>
                </a:solidFill>
                <a:latin typeface="Segoe UI"/>
              </a:rPr>
              <a:t>Algoritma A* + maliyet fonksiyonuyla en uygun boş yeri seçer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0">
                <a:solidFill>
                  <a:srgbClr val="F3F5F8"/>
                </a:solidFill>
                <a:latin typeface="Segoe UI"/>
              </a:rPr>
              <a:t>Sonuç doğal dille açıklanır + haritada canlı gösterilir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Üç katman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62C8A8"/>
                </a:solidFill>
                <a:latin typeface="Segoe UI"/>
              </a:rPr>
              <a:t>▸  </a:t>
            </a:r>
            <a:r>
              <a:rPr sz="1450" b="1">
                <a:solidFill>
                  <a:srgbClr val="62C8A8"/>
                </a:solidFill>
                <a:latin typeface="Segoe UI"/>
              </a:rPr>
              <a:t>IoT</a:t>
            </a:r>
            <a:r>
              <a:rPr sz="1450" b="0">
                <a:solidFill>
                  <a:srgbClr val="C9CED8"/>
                </a:solidFill>
                <a:latin typeface="Segoe UI"/>
              </a:rPr>
              <a:t> · sensör simülasyonu + MQTT + SQLite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50" b="1">
                <a:solidFill>
                  <a:srgbClr val="6CD08A"/>
                </a:solidFill>
                <a:latin typeface="Segoe UI"/>
              </a:rPr>
              <a:t>Algoritma</a:t>
            </a:r>
            <a:r>
              <a:rPr sz="1450" b="0">
                <a:solidFill>
                  <a:srgbClr val="C9CED8"/>
                </a:solidFill>
                <a:latin typeface="Segoe UI"/>
              </a:rPr>
              <a:t> · graf + A* + maliyet fonk. + Hungarian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1">
                <a:solidFill>
                  <a:srgbClr val="6CB8EE"/>
                </a:solidFill>
                <a:latin typeface="Segoe UI"/>
              </a:rPr>
              <a:t>LLM</a:t>
            </a:r>
            <a:r>
              <a:rPr sz="1450" b="0">
                <a:solidFill>
                  <a:srgbClr val="C9CED8"/>
                </a:solidFill>
                <a:latin typeface="Segoe UI"/>
              </a:rPr>
              <a:t> · doğal dil ↔ yapılandırılmış çağrı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1783080"/>
            <a:ext cx="5943600" cy="3886200"/>
          </a:xfrm>
          <a:prstGeom prst="round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901952"/>
            <a:ext cx="5705856" cy="3613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2120" y="5742432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Web arayüzü — canlı otopark haritası + asistan paneli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MIMARI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Gevşek bağlı, katmanlı yapı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286000"/>
            <a:ext cx="2743200" cy="1371600"/>
          </a:xfrm>
          <a:prstGeom prst="roundRect">
            <a:avLst/>
          </a:prstGeom>
          <a:solidFill>
            <a:srgbClr val="464C57"/>
          </a:solidFill>
          <a:ln w="19050">
            <a:solidFill>
              <a:srgbClr val="62C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432304"/>
            <a:ext cx="2743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3F5F8"/>
                </a:solidFill>
                <a:latin typeface="Segoe UI Semibold"/>
              </a:rPr>
              <a:t>Sensör Simülatörü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+ Edge AI (debounce)
+ sağlık telemetrisi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2788920"/>
            <a:ext cx="1143000" cy="384048"/>
          </a:xfrm>
          <a:prstGeom prst="rightArrow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404872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F7CF5E"/>
                </a:solidFill>
                <a:latin typeface="Segoe UI"/>
              </a:rPr>
              <a:t>MQTT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6048" y="2011680"/>
            <a:ext cx="3108960" cy="1920240"/>
          </a:xfrm>
          <a:prstGeom prst="roundRect">
            <a:avLst/>
          </a:prstGeom>
          <a:solidFill>
            <a:srgbClr val="464C57"/>
          </a:solidFill>
          <a:ln w="19050">
            <a:solidFill>
              <a:srgbClr val="6CB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6048" y="2157984"/>
            <a:ext cx="310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3F5F8"/>
                </a:solidFill>
                <a:latin typeface="Segoe UI Semibold"/>
              </a:rPr>
              <a:t>Backend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SQLite · A* + maliyet
LLM · anomali · tahmin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83879" y="2788920"/>
            <a:ext cx="1143000" cy="384048"/>
          </a:xfrm>
          <a:prstGeom prst="rightArrow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2404872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F7CF5E"/>
                </a:solidFill>
                <a:latin typeface="Segoe UI"/>
              </a:rPr>
              <a:t>REST/WS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286000"/>
            <a:ext cx="1920240" cy="1371600"/>
          </a:xfrm>
          <a:prstGeom prst="roundRect">
            <a:avLst/>
          </a:prstGeom>
          <a:solidFill>
            <a:srgbClr val="464C57"/>
          </a:solidFill>
          <a:ln w="19050">
            <a:solidFill>
              <a:srgbClr val="F7C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2432304"/>
            <a:ext cx="1920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3F5F8"/>
                </a:solidFill>
                <a:latin typeface="Segoe UI Semibold"/>
              </a:rPr>
              <a:t>Web Arayüzü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FastAPI + Canvas
2D simülasyon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114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1">
                <a:solidFill>
                  <a:srgbClr val="F3F5F8"/>
                </a:solidFill>
                <a:latin typeface="Segoe UI"/>
              </a:rPr>
              <a:t>MQTT topic hiyerarşisi:  </a:t>
            </a:r>
            <a:r>
              <a:rPr sz="1350" b="0">
                <a:solidFill>
                  <a:srgbClr val="F7CF5E"/>
                </a:solidFill>
                <a:latin typeface="Consolas"/>
              </a:rPr>
              <a:t>otopark/spots/&lt;bölüm&gt;/&lt;id&gt;  ·  otopark/health/&lt;id&gt;  ·  otopark/gateway/status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0">
                <a:solidFill>
                  <a:srgbClr val="C9CED8"/>
                </a:solidFill>
                <a:latin typeface="Segoe UI"/>
              </a:rPr>
              <a:t>Sensör → broker → backend → arayüz: her katman bağımsız, </a:t>
            </a:r>
            <a:r>
              <a:rPr sz="1350" b="1">
                <a:solidFill>
                  <a:srgbClr val="F3F5F8"/>
                </a:solidFill>
                <a:latin typeface="Segoe UI"/>
              </a:rPr>
              <a:t>servis tabanlı</a:t>
            </a:r>
            <a:r>
              <a:rPr sz="1350" b="0">
                <a:solidFill>
                  <a:srgbClr val="C9CED8"/>
                </a:solidFill>
                <a:latin typeface="Segoe UI"/>
              </a:rPr>
              <a:t> mimari.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0">
                <a:solidFill>
                  <a:srgbClr val="C9CED8"/>
                </a:solidFill>
                <a:latin typeface="Segoe UI"/>
              </a:rPr>
              <a:t>Broker yoksa sistem </a:t>
            </a:r>
            <a:r>
              <a:rPr sz="1350" b="1">
                <a:solidFill>
                  <a:srgbClr val="F3F5F8"/>
                </a:solidFill>
                <a:latin typeface="Segoe UI"/>
              </a:rPr>
              <a:t>brokersız yedeğe</a:t>
            </a:r>
            <a:r>
              <a:rPr sz="1350" b="0">
                <a:solidFill>
                  <a:srgbClr val="C9CED8"/>
                </a:solidFill>
                <a:latin typeface="Segoe UI"/>
              </a:rPr>
              <a:t> düşer; canlı çalışmaya devam eder (graceful degradation).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IOT KATMANI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Gerçekçi sensör ağı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166360" cy="19659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82296" cy="1965960"/>
          </a:xfrm>
          <a:prstGeom prst="rect">
            <a:avLst/>
          </a:prstGeom>
          <a:solidFill>
            <a:srgbClr val="62C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84248"/>
            <a:ext cx="47091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📡  MQTT — gerçek IoT topolojisi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Hiyerarşik topic’ler + QoS 1 + retained mesaj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Last Will (LWT): ağ geçidi çökerse otomatik “offline”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Abone wildcard ile dinler, topic’e göre yönlendirir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83080"/>
            <a:ext cx="5138928" cy="19659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83080"/>
            <a:ext cx="82296" cy="1965960"/>
          </a:xfrm>
          <a:prstGeom prst="rect">
            <a:avLst/>
          </a:prstGeom>
          <a:solidFill>
            <a:srgbClr val="F7C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984248"/>
            <a:ext cx="468172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🩺  Sensör sağlığı &amp; anomali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Her yerin pil / sinyal / çevrimiçi telemetrisi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Anomali: çevrimdışı, takılı (çelişkili veri), düşük pil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Kestirimci bakım paneli (canlı, gerçek değerlerden)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931920"/>
            <a:ext cx="5166360" cy="19659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931920"/>
            <a:ext cx="82296" cy="196596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33088"/>
            <a:ext cx="47091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💾  Veri &amp; kalıcılık (SQLite)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Doluluk + olay geçmişi + doluluk örnekleri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Karar/oturum log tablosu (denetim izi + geçmiş veri)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Pydantic ile mesaj doğrulama — bozuk veri reddedilir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3931920"/>
            <a:ext cx="5138928" cy="19659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3931920"/>
            <a:ext cx="82296" cy="1965960"/>
          </a:xfrm>
          <a:prstGeom prst="rect">
            <a:avLst/>
          </a:prstGeom>
          <a:solidFill>
            <a:srgbClr val="6C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4133088"/>
            <a:ext cx="468172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🌗  Gün-içi doluluk simülasyonu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Saate göre doluluk eğrisi (gece boş, öğle/akşam zirve)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Bir simüle gün ≈ 4 dk; saat + yoğunluk canlı gösterilir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Her değişim gerçek bir MQTT olayına karşılık gelir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EDGE AI — UÇ ZEKÂ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Dersin kalbi: zekâ nesnenin kendisinde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9CED8"/>
                </a:solidFill>
                <a:latin typeface="Segoe UI"/>
              </a:rPr>
              <a:t>Klasik IoT’de ham veri merkeze gider, kararı merkez verir. </a:t>
            </a:r>
            <a:r>
              <a:rPr sz="1500" b="1">
                <a:solidFill>
                  <a:srgbClr val="F7CF5E"/>
                </a:solidFill>
                <a:latin typeface="Segoe UI"/>
              </a:rPr>
              <a:t>Edge AI</a:t>
            </a:r>
            <a:r>
              <a:rPr sz="1500" b="1">
                <a:solidFill>
                  <a:srgbClr val="F3F5F8"/>
                </a:solidFill>
                <a:latin typeface="Segoe UI"/>
              </a:rPr>
              <a:t> ise basit kararı cihazın (sensörün) kendisinde verir.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743200"/>
            <a:ext cx="5166360" cy="22860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743200"/>
            <a:ext cx="82296" cy="2286000"/>
          </a:xfrm>
          <a:prstGeom prst="rect">
            <a:avLst/>
          </a:prstGeom>
          <a:solidFill>
            <a:srgbClr val="E27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44368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Sorun: gürültü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Sensör, yerin üstünden geçen yayaya / yavaş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geçen araca da tepki verir.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Bu kısa sıçramalar GERÇEK park değildir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merkeze gönderilirse sistem titrer.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743200"/>
            <a:ext cx="5138928" cy="22860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743200"/>
            <a:ext cx="82296" cy="2286000"/>
          </a:xfrm>
          <a:prstGeom prst="rect">
            <a:avLst/>
          </a:prstGeom>
          <a:solidFill>
            <a:srgbClr val="6C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2944368"/>
            <a:ext cx="468172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Çözüm: edge debounce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Sensör hemen haber vermez, kısa süre bekler.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Sinyal birkaç tur KARARLI kalırsa “gerçek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park” deyip yayınlar.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Geçici sıçramalar UÇTA elenir (🛡 sayaç).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7CF5E"/>
                </a:solidFill>
                <a:latin typeface="Segoe UI Semibold"/>
              </a:rPr>
              <a:t>Sunum cümlesi:  </a:t>
            </a:r>
            <a:r>
              <a:rPr sz="1400" b="0">
                <a:solidFill>
                  <a:srgbClr val="F3F5F8"/>
                </a:solidFill>
                <a:latin typeface="Segoe UI"/>
              </a:rPr>
              <a:t>“Park kararını bulutta LLM verir; ‘bu sinyal gerçek mi, gürültü mü’ kararını sensör uçta verir — zekâ merkezde de var, nesnede de.”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ALGORITMA KATMANI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Kararı veren deterministik çekirdek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50292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Graf + A*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Otopark bir graf: giriş/çıkış, koridorlar, park yerleri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A* ile her aday yere </a:t>
            </a:r>
            <a:r>
              <a:rPr sz="1400" b="1">
                <a:solidFill>
                  <a:srgbClr val="F3F5F8"/>
                </a:solidFill>
                <a:latin typeface="Segoe UI"/>
              </a:rPr>
              <a:t>en kısa sürüş mesafesi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Araç tipi / şarj / engelli filtreleme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Çoklu araç — Hungarian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Aynı anda gelen araçlar </a:t>
            </a:r>
            <a:r>
              <a:rPr sz="1400" b="1">
                <a:solidFill>
                  <a:srgbClr val="F3F5F8"/>
                </a:solidFill>
                <a:latin typeface="Segoe UI"/>
              </a:rPr>
              <a:t>çakışmadan optimal</a:t>
            </a:r>
            <a:r>
              <a:rPr sz="1400" b="0">
                <a:solidFill>
                  <a:srgbClr val="F3F5F8"/>
                </a:solidFill>
                <a:latin typeface="Segoe UI"/>
              </a:rPr>
              <a:t> dağıtılır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İki araç asla aynı yere gönderilmez (kolektif optimizasyon)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74519"/>
            <a:ext cx="5212080" cy="233172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74519"/>
            <a:ext cx="82296" cy="2331720"/>
          </a:xfrm>
          <a:prstGeom prst="rect">
            <a:avLst/>
          </a:prstGeom>
          <a:solidFill>
            <a:srgbClr val="F7C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084831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F3F5F8"/>
                </a:solidFill>
                <a:latin typeface="Segoe UI Semibold"/>
              </a:rPr>
              <a:t>Maliyet fonksiyonu (karar çekirdeği)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F7CF5E"/>
                </a:solidFill>
                <a:latin typeface="Cambria Math"/>
              </a:rPr>
              <a:t>C</a:t>
            </a:r>
            <a:r>
              <a:rPr sz="1800" b="1">
                <a:solidFill>
                  <a:srgbClr val="F7CF5E"/>
                </a:solidFill>
                <a:latin typeface="Cambria Math"/>
              </a:rPr>
              <a:t>ᵢ</a:t>
            </a:r>
            <a:r>
              <a:rPr sz="2600" b="1">
                <a:solidFill>
                  <a:srgbClr val="F7CF5E"/>
                </a:solidFill>
                <a:latin typeface="Cambria Math"/>
              </a:rPr>
              <a:t>  =  | dᵢ − α · t |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3F5F8"/>
                </a:solidFill>
                <a:latin typeface="Segoe UI"/>
              </a:rPr>
              <a:t>dᵢ</a:t>
            </a:r>
            <a:r>
              <a:rPr sz="1250" b="0">
                <a:solidFill>
                  <a:srgbClr val="C9CED8"/>
                </a:solidFill>
                <a:latin typeface="Segoe UI"/>
              </a:rPr>
              <a:t> = girişten A* mesafesi    </a:t>
            </a:r>
            <a:r>
              <a:rPr sz="1250" b="1">
                <a:solidFill>
                  <a:srgbClr val="F3F5F8"/>
                </a:solidFill>
                <a:latin typeface="Segoe UI"/>
              </a:rPr>
              <a:t>t</a:t>
            </a:r>
            <a:r>
              <a:rPr sz="1250" b="0">
                <a:solidFill>
                  <a:srgbClr val="C9CED8"/>
                </a:solidFill>
                <a:latin typeface="Segoe UI"/>
              </a:rPr>
              <a:t> = kalış süresi    </a:t>
            </a:r>
            <a:r>
              <a:rPr sz="1250" b="1">
                <a:solidFill>
                  <a:srgbClr val="F3F5F8"/>
                </a:solidFill>
                <a:latin typeface="Segoe UI"/>
              </a:rPr>
              <a:t>α</a:t>
            </a:r>
            <a:r>
              <a:rPr sz="1250" b="0">
                <a:solidFill>
                  <a:srgbClr val="C9CED8"/>
                </a:solidFill>
                <a:latin typeface="Segoe UI"/>
              </a:rPr>
              <a:t> = ağırlık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389120"/>
            <a:ext cx="5212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400" b="1">
                <a:solidFill>
                  <a:srgbClr val="F3F5F8"/>
                </a:solidFill>
                <a:latin typeface="Segoe UI"/>
              </a:rPr>
              <a:t>Kısa kalan</a:t>
            </a:r>
            <a:r>
              <a:rPr sz="1400" b="0">
                <a:solidFill>
                  <a:srgbClr val="C9CED8"/>
                </a:solidFill>
                <a:latin typeface="Segoe UI"/>
              </a:rPr>
              <a:t> → kapıya yakın (yüksek sirkülasyon)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400" b="1">
                <a:solidFill>
                  <a:srgbClr val="F3F5F8"/>
                </a:solidFill>
                <a:latin typeface="Segoe UI"/>
              </a:rPr>
              <a:t>Uzun kalan</a:t>
            </a:r>
            <a:r>
              <a:rPr sz="1400" b="0">
                <a:solidFill>
                  <a:srgbClr val="C9CED8"/>
                </a:solidFill>
                <a:latin typeface="Segoe UI"/>
              </a:rPr>
              <a:t> → daha derine; kapı önleri boşta kalmaz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LLM KATMANI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Karar vermez — anlar ve açıklar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37360"/>
            <a:ext cx="10515600" cy="1051560"/>
          </a:xfrm>
          <a:prstGeom prst="round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47088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7CF5E"/>
                </a:solidFill>
                <a:latin typeface="Segoe UI Semibold"/>
              </a:rPr>
              <a:t>İlke:  </a:t>
            </a:r>
            <a:r>
              <a:rPr sz="1600" b="1">
                <a:solidFill>
                  <a:srgbClr val="F3F5F8"/>
                </a:solidFill>
                <a:latin typeface="Segoe UI"/>
              </a:rPr>
              <a:t>LLM kararı VERMEZ. Doğal dili anlar, doğru aracı çağırır, sonucu açıklar. Park kararını deterministik algoritma verir.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5029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F7CF5E"/>
                </a:solidFill>
                <a:latin typeface="Segoe UI Semibold"/>
              </a:rPr>
              <a:t>Function calling — 3 araç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1">
                <a:solidFill>
                  <a:srgbClr val="6CB8EE"/>
                </a:solidFill>
                <a:latin typeface="Consolas"/>
              </a:rPr>
              <a:t>find_best_parking_spot</a:t>
            </a:r>
            <a:r>
              <a:rPr sz="1350" b="0">
                <a:solidFill>
                  <a:srgbClr val="C9CED8"/>
                </a:solidFill>
                <a:latin typeface="Segoe UI"/>
              </a:rPr>
              <a:t>  → yer bul + yönlendir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1">
                <a:solidFill>
                  <a:srgbClr val="6CB8EE"/>
                </a:solidFill>
                <a:latin typeface="Consolas"/>
              </a:rPr>
              <a:t>get_parking_stats</a:t>
            </a:r>
            <a:r>
              <a:rPr sz="1350" b="0">
                <a:solidFill>
                  <a:srgbClr val="C9CED8"/>
                </a:solidFill>
                <a:latin typeface="Segoe UI"/>
              </a:rPr>
              <a:t>  → “kaç boş yer var?”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1">
                <a:solidFill>
                  <a:srgbClr val="6CB8EE"/>
                </a:solidFill>
                <a:latin typeface="Consolas"/>
              </a:rPr>
              <a:t>predict_availability</a:t>
            </a:r>
            <a:r>
              <a:rPr sz="1350" b="0">
                <a:solidFill>
                  <a:srgbClr val="C9CED8"/>
                </a:solidFill>
                <a:latin typeface="Segoe UI"/>
              </a:rPr>
              <a:t>  → “birazdan dolar mı?”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0">
                <a:solidFill>
                  <a:srgbClr val="F3F5F8"/>
                </a:solidFill>
                <a:latin typeface="Segoe UI"/>
              </a:rPr>
              <a:t>Çok dilli (TR/EN) · Gemini (function calling)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0">
                <a:solidFill>
                  <a:srgbClr val="C9CED8"/>
                </a:solidFill>
                <a:latin typeface="Segoe UI"/>
              </a:rPr>
              <a:t>Kota/erişim sorununda </a:t>
            </a:r>
            <a:r>
              <a:rPr sz="1350" b="1">
                <a:solidFill>
                  <a:srgbClr val="F3F5F8"/>
                </a:solidFill>
                <a:latin typeface="Segoe UI"/>
              </a:rPr>
              <a:t>anahtar-kelime yedeği</a:t>
            </a:r>
            <a:r>
              <a:rPr sz="1350" b="0">
                <a:solidFill>
                  <a:srgbClr val="C9CED8"/>
                </a:solidFill>
                <a:latin typeface="Segoe UI"/>
              </a:rPr>
              <a:t> → sistem yine çalışır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063240"/>
            <a:ext cx="5166360" cy="28803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246120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7CF5E"/>
                </a:solidFill>
                <a:latin typeface="Segoe UI Semibold"/>
              </a:rPr>
              <a:t>Örnek akış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6CD08A"/>
                </a:solidFill>
                <a:latin typeface="Segoe UI"/>
              </a:rPr>
              <a:t>Sürücü:</a:t>
            </a:r>
            <a:r>
              <a:rPr sz="1250" b="0">
                <a:solidFill>
                  <a:srgbClr val="F3F5F8"/>
                </a:solidFill>
                <a:latin typeface="Segoe UI"/>
              </a:rPr>
              <a:t>  “Elektrikli arabam var, 2 saat kalacağım”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6CB8EE"/>
                </a:solidFill>
                <a:latin typeface="Segoe UI"/>
              </a:rPr>
              <a:t>LLM →</a:t>
            </a:r>
            <a:r>
              <a:rPr sz="1150" b="0">
                <a:solidFill>
                  <a:srgbClr val="C9CED8"/>
                </a:solidFill>
                <a:latin typeface="Consolas"/>
              </a:rPr>
              <a:t>  vehicle_type=ev, needs_charging=true, duration=2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F7CF5E"/>
                </a:solidFill>
                <a:latin typeface="Segoe UI"/>
              </a:rPr>
              <a:t>Algoritma →</a:t>
            </a:r>
            <a:r>
              <a:rPr sz="1200" b="0">
                <a:solidFill>
                  <a:srgbClr val="C9CED8"/>
                </a:solidFill>
                <a:latin typeface="Segoe UI"/>
              </a:rPr>
              <a:t>  B-12 (şarjlı), C=|d−α·t| en küçük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CB8EE"/>
                </a:solidFill>
                <a:latin typeface="Segoe UI"/>
              </a:rPr>
              <a:t>LLM →</a:t>
            </a:r>
            <a:r>
              <a:rPr sz="1250" b="0">
                <a:solidFill>
                  <a:srgbClr val="F3F5F8"/>
                </a:solidFill>
                <a:latin typeface="Segoe UI"/>
              </a:rPr>
              <a:t>  “Sizi B-12 şarjlı yere yönlendirdim…”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EK ÖZELLIKLER &amp; MÜHENDISLIK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Analitik, güvenilirlik, kullanılabilirlik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73152" cy="603504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47088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📊 Analitik panel   </a:t>
            </a:r>
            <a:r>
              <a:rPr sz="1150" b="0">
                <a:solidFill>
                  <a:srgbClr val="C9CED8"/>
                </a:solidFill>
                <a:latin typeface="Segoe UI"/>
              </a:rPr>
              <a:t>Doluluk zaman serisi, bölge oranları, ısı haritası, ort. kalış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96312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496312"/>
            <a:ext cx="73152" cy="603504"/>
          </a:xfrm>
          <a:prstGeom prst="rect">
            <a:avLst/>
          </a:prstGeom>
          <a:solidFill>
            <a:srgbClr val="62C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560320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🔮 Tahmin   </a:t>
            </a:r>
            <a:r>
              <a:rPr sz="1150" b="0">
                <a:solidFill>
                  <a:srgbClr val="C9CED8"/>
                </a:solidFill>
                <a:latin typeface="Segoe UI"/>
              </a:rPr>
              <a:t>Eğilim + gün-içi örüntüyle “15 dk sonra ~%X dolu”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209544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209544"/>
            <a:ext cx="73152" cy="603504"/>
          </a:xfrm>
          <a:prstGeom prst="rect">
            <a:avLst/>
          </a:prstGeom>
          <a:solidFill>
            <a:srgbClr val="F7C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273552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🎫 Rezervasyon   </a:t>
            </a:r>
            <a:r>
              <a:rPr sz="1150" b="0">
                <a:solidFill>
                  <a:srgbClr val="C9CED8"/>
                </a:solidFill>
                <a:latin typeface="Segoe UI"/>
              </a:rPr>
              <a:t>Yeri gelmeden ayırt; zaman aşımı sweeper’ı temizler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922776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" y="3922776"/>
            <a:ext cx="73152" cy="603504"/>
          </a:xfrm>
          <a:prstGeom prst="rect">
            <a:avLst/>
          </a:prstGeom>
          <a:solidFill>
            <a:srgbClr val="6C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86784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🎤 Sesli giriş   </a:t>
            </a:r>
            <a:r>
              <a:rPr sz="1150" b="0">
                <a:solidFill>
                  <a:srgbClr val="C9CED8"/>
                </a:solidFill>
                <a:latin typeface="Segoe UI"/>
              </a:rPr>
              <a:t>Web Speech API (tr-TR) ile konuşarak istek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636008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4636008"/>
            <a:ext cx="73152" cy="603504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700016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✅ Pydantic + logging   </a:t>
            </a:r>
            <a:r>
              <a:rPr sz="1150" b="0">
                <a:solidFill>
                  <a:srgbClr val="C9CED8"/>
                </a:solidFill>
                <a:latin typeface="Segoe UI"/>
              </a:rPr>
              <a:t>Veri doğrulama + seviyeli loglama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5349240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" y="5349240"/>
            <a:ext cx="73152" cy="603504"/>
          </a:xfrm>
          <a:prstGeom prst="rect">
            <a:avLst/>
          </a:prstGeom>
          <a:solidFill>
            <a:srgbClr val="E27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413248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🔁 Hata toleransı   </a:t>
            </a:r>
            <a:r>
              <a:rPr sz="1150" b="0">
                <a:solidFill>
                  <a:srgbClr val="C9CED8"/>
                </a:solidFill>
                <a:latin typeface="Segoe UI"/>
              </a:rPr>
              <a:t>MQTT reconnect · LLM yedeği · brokersız mod · kilit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83080"/>
            <a:ext cx="4846320" cy="3246120"/>
          </a:xfrm>
          <a:prstGeom prst="round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reenshot-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1892807"/>
            <a:ext cx="4626864" cy="2930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37960" y="50749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Analitik &amp; telemetri paneli (canlı veriden)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53212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3F5F8"/>
                </a:solidFill>
                <a:latin typeface="Segoe UI"/>
              </a:rPr>
              <a:t>37 birim testi · uçtan uca canlı doğrulama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3F5F8"/>
                </a:solidFill>
                <a:latin typeface="Segoe UI Light"/>
              </a:rPr>
              <a:t>Sonuç &amp;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828800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03120"/>
            <a:ext cx="10515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6CB8EE"/>
                </a:solidFill>
                <a:latin typeface="Segoe UI"/>
              </a:rPr>
              <a:t>▸  </a:t>
            </a:r>
            <a:r>
              <a:rPr sz="1600" b="1">
                <a:solidFill>
                  <a:srgbClr val="F3F5F8"/>
                </a:solidFill>
                <a:latin typeface="Segoe UI"/>
              </a:rPr>
              <a:t>Doğal dil + IoT + algoritma</a:t>
            </a:r>
            <a:r>
              <a:rPr sz="1600" b="0">
                <a:solidFill>
                  <a:srgbClr val="C9CED8"/>
                </a:solidFill>
                <a:latin typeface="Segoe UI"/>
              </a:rPr>
              <a:t>  tek çalışan sistemde birleşti.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6CB8EE"/>
                </a:solidFill>
                <a:latin typeface="Segoe UI"/>
              </a:rPr>
              <a:t>▸  </a:t>
            </a:r>
            <a:r>
              <a:rPr sz="1600" b="1">
                <a:solidFill>
                  <a:srgbClr val="F3F5F8"/>
                </a:solidFill>
                <a:latin typeface="Segoe UI"/>
              </a:rPr>
              <a:t>Üç tür zekâ: </a:t>
            </a:r>
            <a:r>
              <a:rPr sz="1600" b="0">
                <a:solidFill>
                  <a:srgbClr val="C9CED8"/>
                </a:solidFill>
                <a:latin typeface="Segoe UI"/>
              </a:rPr>
              <a:t>uç (sensör debounce) · algoritmik (A*+maliyet) · dil (LLM).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600" b="1">
                <a:solidFill>
                  <a:srgbClr val="F7CF5E"/>
                </a:solidFill>
                <a:latin typeface="Segoe UI Semibold"/>
              </a:rPr>
              <a:t>Çekirdek mesaj: </a:t>
            </a:r>
            <a:r>
              <a:rPr sz="1600" b="1">
                <a:solidFill>
                  <a:srgbClr val="F3F5F8"/>
                </a:solidFill>
                <a:latin typeface="Segoe UI"/>
              </a:rPr>
              <a:t>LLM anlar+açıklar; kararı deterministik algoritma verir.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600" b="1">
                <a:solidFill>
                  <a:srgbClr val="6CD08A"/>
                </a:solidFill>
                <a:latin typeface="Segoe UI"/>
              </a:rPr>
              <a:t>Demo: </a:t>
            </a:r>
            <a:r>
              <a:rPr sz="1600" b="0">
                <a:solidFill>
                  <a:srgbClr val="C9CED8"/>
                </a:solidFill>
                <a:latin typeface="Segoe UI"/>
              </a:rPr>
              <a:t>normal / engelli / elektrikli senaryolar · çoklu araç · tahmin · analitik.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5029200"/>
            <a:ext cx="10515600" cy="1097280"/>
          </a:xfrm>
          <a:prstGeom prst="round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138928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7CF5E"/>
                </a:solidFill>
                <a:latin typeface="Segoe UI Light"/>
              </a:rPr>
              <a:t>Teşekkürler — Sorular?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