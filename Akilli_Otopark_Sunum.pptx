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38928"/>
            <a:ext cx="12191695" cy="91440"/>
          </a:xfrm>
          <a:prstGeom prst="rect">
            <a:avLst/>
          </a:prstGeom>
          <a:solidFill>
            <a:srgbClr val="4AA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1600" b="1" i="0">
                <a:solidFill>
                  <a:srgbClr val="4AA2DE"/>
                </a:solidFill>
                <a:latin typeface="Calibri"/>
              </a:rPr>
              <a:t>NESNELERİN YAPAY ZEKÂSI (AIoT) — DÖNEM PROJESİ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Calibri"/>
              </a:rPr>
              <a:t>Akıllı Otopark Yönlendirme Sistemi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83280"/>
            <a:ext cx="100584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1900" b="0" i="0">
                <a:solidFill>
                  <a:srgbClr val="CADCFC"/>
                </a:solidFill>
                <a:latin typeface="Calibri"/>
              </a:rPr>
              <a:t>Doğal dil (LLM), IoT ve algoritmayı birleştiren akıllı park yönlendirme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40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Hazırlayanlar:  Mehdi Sındağ  ·  Mehmet Ali Topkara</a:t>
            </a:r>
          </a:p>
          <a:p>
            <a:r>
              <a:rPr sz="1400" b="0" i="0">
                <a:solidFill>
                  <a:srgbClr val="CADCFC"/>
                </a:solidFill>
                <a:latin typeface="Calibri"/>
              </a:rPr>
              <a:t>Yapay Zekâ ve Veri Mühendisliği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Projenin Konusu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AA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1500" b="1" i="0">
                <a:solidFill>
                  <a:srgbClr val="1E2761"/>
                </a:solidFill>
                <a:latin typeface="Calibri"/>
              </a:rPr>
              <a:t>Bu proje, bir otoparkta boş yer bulma sürecini yapay zekâ ile kolaylaştıran bir yönlendirme sistemidir.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 i="0">
                <a:solidFill>
                  <a:srgbClr val="4AA2DE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2B3342"/>
                </a:solidFill>
                <a:latin typeface="Calibri"/>
              </a:rPr>
              <a:t>Sürücü, isteğini doğal dille ifade eder (örneğin: “elektrikli arabam var, 2 saat kalacağım”).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 i="0">
                <a:solidFill>
                  <a:srgbClr val="4AA2DE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2B3342"/>
                </a:solidFill>
                <a:latin typeface="Calibri"/>
              </a:rPr>
              <a:t>Büyük dil modeli (LLM), bu isteği anlar ve uygun parametrelere çevirir.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 i="0">
                <a:solidFill>
                  <a:srgbClr val="4AA2DE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2B3342"/>
                </a:solidFill>
                <a:latin typeface="Calibri"/>
              </a:rPr>
              <a:t>Algoritma, boş yerler arasından sürücüye en uygun olanı seçer.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 i="0">
                <a:solidFill>
                  <a:srgbClr val="4AA2DE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2B3342"/>
                </a:solidFill>
                <a:latin typeface="Calibri"/>
              </a:rPr>
              <a:t>Sonuç, sürücüye hem yazıyla açıklanır hem de harita üzerinde canlı olarak gösterilir.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 i="0">
                <a:solidFill>
                  <a:srgbClr val="4AA2DE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2B3342"/>
                </a:solidFill>
                <a:latin typeface="Calibri"/>
              </a:rPr>
              <a:t>Sistem tamamen yazılımdır; sensörler simüle edilir, mimari ise gerçekçidir.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5A6472"/>
                </a:solidFill>
                <a:latin typeface="Calibri"/>
              </a:rPr>
              <a:t>Akıllı Otopark Yönlendirme Sistemi · LLM + IoT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5A6472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AA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1500" b="1" i="0">
                <a:solidFill>
                  <a:srgbClr val="1E2761"/>
                </a:solidFill>
                <a:latin typeface="Calibri"/>
              </a:rPr>
              <a:t>Büyük otoparklarda boş yer aramak, sürücüler için zaman ve yakıt kaybına yol açar.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 i="0">
                <a:solidFill>
                  <a:srgbClr val="4AA2DE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2B3342"/>
                </a:solidFill>
                <a:latin typeface="Calibri"/>
              </a:rPr>
              <a:t>Sürücüler, boş yer ararken gereksiz yere dolaşır ve otopark içinde trafik oluşur.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 i="0">
                <a:solidFill>
                  <a:srgbClr val="4AA2DE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2B3342"/>
                </a:solidFill>
                <a:latin typeface="Calibri"/>
              </a:rPr>
              <a:t>Mevcut sistemler genellikle yalnızca ilk boş yeri gösterir ve sürücünün ihtiyacını dikkate almaz.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 i="0">
                <a:solidFill>
                  <a:srgbClr val="4AA2DE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2B3342"/>
                </a:solidFill>
                <a:latin typeface="Calibri"/>
              </a:rPr>
              <a:t>Teknik formlar veya menülerle etkileşim, kullanıcı için zahmetli ve yavaştır.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 i="0">
                <a:solidFill>
                  <a:srgbClr val="4AA2DE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2B3342"/>
                </a:solidFill>
                <a:latin typeface="Calibri"/>
              </a:rPr>
              <a:t>Sensörler doluluğu bilir; ancak bu ham veri tek başına anlamlı bir yönlendirmeye dönüşmez.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 i="0">
                <a:solidFill>
                  <a:srgbClr val="4AA2DE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2B3342"/>
                </a:solidFill>
                <a:latin typeface="Calibri"/>
              </a:rPr>
              <a:t>Bu nedenle, doğal dili anlayan ve doluluğu akıllıca değerlendiren bir sisteme ihtiyaç vardır.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5A6472"/>
                </a:solidFill>
                <a:latin typeface="Calibri"/>
              </a:rPr>
              <a:t>Akıllı Otopark Yönlendirme Sistemi · LLM + IoT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5A6472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Geliştirilen Sistem ve Akış Diyagramı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AA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1500" b="1" i="0">
                <a:solidFill>
                  <a:srgbClr val="1E2761"/>
                </a:solidFill>
                <a:latin typeface="Calibri"/>
              </a:rPr>
              <a:t>Sistem, gevşek bağlı katmanlardan oluşur ve aşağıdaki akışa göre çalışır: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2542032" cy="13258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1. Sürücü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Doğal dille park isteği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8144" y="1965960"/>
            <a:ext cx="2542032" cy="13258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2. LLM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İsteği anlar, doğru fonksiyonu çağırır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65960"/>
            <a:ext cx="2542032" cy="13258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3. Algoritma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A* + maliyet fonksiyonu ile en uygun yeri seçer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576" y="1965960"/>
            <a:ext cx="2542032" cy="13258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4. Web Arayüzü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Canlı harita ve doğal dil açıklaması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08960" y="2423160"/>
            <a:ext cx="329184" cy="411480"/>
          </a:xfrm>
          <a:prstGeom prst="rightArrow">
            <a:avLst/>
          </a:prstGeom>
          <a:solidFill>
            <a:srgbClr val="4AA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980176" y="2423160"/>
            <a:ext cx="329184" cy="411480"/>
          </a:xfrm>
          <a:prstGeom prst="rightArrow">
            <a:avLst/>
          </a:prstGeom>
          <a:solidFill>
            <a:srgbClr val="4AA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851392" y="2423160"/>
            <a:ext cx="329184" cy="411480"/>
          </a:xfrm>
          <a:prstGeom prst="rightArrow">
            <a:avLst/>
          </a:prstGeom>
          <a:solidFill>
            <a:srgbClr val="4AA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38144" y="3886200"/>
            <a:ext cx="5413248" cy="91440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IoT Katmanı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Sensör simülasyonu + Edge AI  →  MQTT  →  Backend (SQLite, canlı doluluk)</a:t>
            </a:r>
          </a:p>
        </p:txBody>
      </p:sp>
      <p:sp>
        <p:nvSpPr>
          <p:cNvPr id="14" name="Up Arrow 13"/>
          <p:cNvSpPr/>
          <p:nvPr/>
        </p:nvSpPr>
        <p:spPr>
          <a:xfrm>
            <a:off x="7379208" y="3291840"/>
            <a:ext cx="402336" cy="594360"/>
          </a:xfrm>
          <a:prstGeom prst="upArrow">
            <a:avLst/>
          </a:prstGeom>
          <a:solidFill>
            <a:srgbClr val="4AA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2984" y="3346704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1000" b="0" i="1">
                <a:solidFill>
                  <a:srgbClr val="5A6472"/>
                </a:solidFill>
                <a:latin typeface="Calibri"/>
              </a:rPr>
              <a:t>doluluk verisini besler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38928"/>
            <a:ext cx="11064240" cy="8686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Önemli ilke: </a:t>
            </a:r>
            <a:r>
              <a:rPr sz="1300" b="0" i="0">
                <a:solidFill>
                  <a:srgbClr val="2B3342"/>
                </a:solidFill>
                <a:latin typeface="Calibri"/>
              </a:rPr>
              <a:t>Kararı deterministik algoritma verir; LLM yalnızca anlar ve açıklar.  </a:t>
            </a:r>
            <a:r>
              <a:rPr sz="1300" b="1" i="0">
                <a:solidFill>
                  <a:srgbClr val="1E2761"/>
                </a:solidFill>
                <a:latin typeface="Calibri"/>
              </a:rPr>
              <a:t>Maliyet fonksiyonu: C = | d − α·t |  </a:t>
            </a:r>
            <a:r>
              <a:rPr sz="1300" b="0" i="0">
                <a:solidFill>
                  <a:srgbClr val="2B3342"/>
                </a:solidFill>
                <a:latin typeface="Calibri"/>
              </a:rPr>
              <a:t>(kısa kalan kapıya yakın, uzun kalan daha derine yerleştirilir).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5A6472"/>
                </a:solidFill>
                <a:latin typeface="Calibri"/>
              </a:rPr>
              <a:t>Akıllı Otopark Yönlendirme Sistemi · LLM + IoT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5A6472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Sonuç, Çıktı ve Tasarım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4AA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1500" b="1" i="0">
                <a:solidFill>
                  <a:srgbClr val="1E2761"/>
                </a:solidFill>
                <a:latin typeface="Calibri"/>
              </a:rPr>
              <a:t>Sistem, çalışan bir prototip olarak başarıyla geliştirilmiştir.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58368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00" b="1" i="0">
                <a:solidFill>
                  <a:srgbClr val="4AA2DE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2B3342"/>
                </a:solidFill>
                <a:latin typeface="Calibri"/>
              </a:rPr>
              <a:t>Sürücü, yazdığı isteğe saniyeler içinde uygun bir park yeri önerisi alır.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00" b="1" i="0">
                <a:solidFill>
                  <a:srgbClr val="4AA2DE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2B3342"/>
                </a:solidFill>
                <a:latin typeface="Calibri"/>
              </a:rPr>
              <a:t>Web arayüzü, otoparkı kuşbakışı gösterir; boş ve dolu yerler ile önerilen rota canlı görünür.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00" b="1" i="0">
                <a:solidFill>
                  <a:srgbClr val="4AA2DE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2B3342"/>
                </a:solidFill>
                <a:latin typeface="Calibri"/>
              </a:rPr>
              <a:t>Kalış süresine göre yerleştirme, otoparkın sirkülasyonunu artırır.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00" b="1" i="0">
                <a:solidFill>
                  <a:srgbClr val="4AA2DE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2B3342"/>
                </a:solidFill>
                <a:latin typeface="Calibri"/>
              </a:rPr>
              <a:t>Sistem; çoklu araç ataması, doluluk tahmini, analitik panel ve anomali tespiti yeteneklerine sahiptir.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00" b="1" i="0">
                <a:solidFill>
                  <a:srgbClr val="4AA2DE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2B3342"/>
                </a:solidFill>
                <a:latin typeface="Calibri"/>
              </a:rPr>
              <a:t>LLM erişilemese bile sistem, yedek yöntemle çalışmaya devam eder.</a:t>
            </a:r>
          </a:p>
        </p:txBody>
      </p:sp>
      <p:pic>
        <p:nvPicPr>
          <p:cNvPr id="7" name="Picture 6" descr="screenshot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417320"/>
            <a:ext cx="7218947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6035040"/>
            <a:ext cx="4663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 i="1">
                <a:solidFill>
                  <a:srgbClr val="5A6472"/>
                </a:solidFill>
                <a:latin typeface="Calibri"/>
              </a:rPr>
              <a:t>Web arayüzü — canlı otopark haritası ve asistan paneli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5A6472"/>
                </a:solidFill>
                <a:latin typeface="Calibri"/>
              </a:rPr>
              <a:t>Akıllı Otopark Yönlendirme Sistemi · LLM + IoT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900" b="0" i="0">
                <a:solidFill>
                  <a:srgbClr val="5A6472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